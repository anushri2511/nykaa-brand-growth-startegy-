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72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15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ushri2511/NYKAA-BRAND-GROWTH-STARTEGY-/blob/main/Nykaa%20Report%20Dashboard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28632" y="3931920"/>
            <a:ext cx="4114800" cy="4114800"/>
          </a:xfrm>
          <a:prstGeom prst="ellipse">
            <a:avLst/>
          </a:prstGeom>
          <a:solidFill>
            <a:srgbClr val="D2E5F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77272" y="-1280160"/>
            <a:ext cx="2377440" cy="2377440"/>
          </a:xfrm>
          <a:prstGeom prst="ellipse">
            <a:avLst/>
          </a:prstGeom>
          <a:solidFill>
            <a:srgbClr val="E3A8B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5212080"/>
            <a:ext cx="2011680" cy="2011680"/>
          </a:xfrm>
          <a:prstGeom prst="ellipse">
            <a:avLst/>
          </a:prstGeom>
          <a:solidFill>
            <a:srgbClr val="E0C09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80235" y="1371600"/>
            <a:ext cx="871423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178308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651760"/>
            <a:ext cx="8165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GROWTH STRATEGY PROJECT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011680" y="3931920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Marketing &amp; Growth Case Study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33746" y="4472580"/>
            <a:ext cx="3550158" cy="777240"/>
          </a:xfrm>
          <a:prstGeom prst="roundRect">
            <a:avLst>
              <a:gd name="adj" fmla="val 49091"/>
            </a:avLst>
          </a:prstGeom>
          <a:solidFill>
            <a:srgbClr val="D2E5F0"/>
          </a:solidFill>
          <a:ln/>
        </p:spPr>
      </p:sp>
      <p:sp>
        <p:nvSpPr>
          <p:cNvPr id="11" name="Text 8"/>
          <p:cNvSpPr/>
          <p:nvPr/>
        </p:nvSpPr>
        <p:spPr>
          <a:xfrm>
            <a:off x="4193667" y="4572000"/>
            <a:ext cx="35501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FOCUS: 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60350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17C208-CE87-D228-3A72-EF4E7D53B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344" y="4319460"/>
            <a:ext cx="1083480" cy="1083480"/>
          </a:xfrm>
          <a:prstGeom prst="rect">
            <a:avLst/>
          </a:prstGeom>
        </p:spPr>
      </p:pic>
      <p:sp>
        <p:nvSpPr>
          <p:cNvPr id="16" name="Shape 16">
            <a:extLst>
              <a:ext uri="{FF2B5EF4-FFF2-40B4-BE49-F238E27FC236}">
                <a16:creationId xmlns:a16="http://schemas.microsoft.com/office/drawing/2014/main" id="{7E629C88-F85B-0AE9-06E6-723CE4D7D441}"/>
              </a:ext>
            </a:extLst>
          </p:cNvPr>
          <p:cNvSpPr/>
          <p:nvPr/>
        </p:nvSpPr>
        <p:spPr>
          <a:xfrm>
            <a:off x="1794891" y="5562960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BY -  ANUSHRI SINGH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516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851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691640"/>
            <a:ext cx="4357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Overview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68796" y="1691640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3388" y="18516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3388" y="1851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46036" y="1691640"/>
            <a:ext cx="4357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2578608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7386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7386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2578608"/>
            <a:ext cx="4357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Audit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68796" y="2578608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3388" y="27386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33388" y="27386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46036" y="2578608"/>
            <a:ext cx="4357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3465576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36255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6255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3465576"/>
            <a:ext cx="4357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Identified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368796" y="3465576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33388" y="36255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33388" y="36255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46036" y="3465576"/>
            <a:ext cx="4357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4352544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3232" y="451256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45125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25880" y="4352544"/>
            <a:ext cx="4357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533388" y="45125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46036" y="4352544"/>
            <a:ext cx="4357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48640" y="5239512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3232" y="53995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25880" y="5239512"/>
            <a:ext cx="4357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6368796" y="4387977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05956" y="4547997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4" name="Text 42"/>
          <p:cNvSpPr/>
          <p:nvPr/>
        </p:nvSpPr>
        <p:spPr>
          <a:xfrm>
            <a:off x="6505956" y="45479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146036" y="4414647"/>
            <a:ext cx="4357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83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Overview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brand for the case study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F5E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Criteria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active Instagram account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visible competitors in the market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enough existing content to analyze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Brands Considered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1965960"/>
            <a:ext cx="5696712" cy="4160520"/>
          </a:xfrm>
          <a:prstGeom prst="roundRect">
            <a:avLst>
              <a:gd name="adj" fmla="val 1758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286000"/>
            <a:ext cx="640080" cy="640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40880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Selected: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309360" y="3108960"/>
            <a:ext cx="49651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is one of India's leading beauty, wellness, and personal care e-commerce platforms. It was chosen for this project because its Instagram presence is highly active, marketing-heavy, and offers rich material for audit and analysis — making it an ideal case study for a growth strategy.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646ACF-9400-06B1-0506-EE457D4E9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785" y="2136288"/>
            <a:ext cx="939504" cy="939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83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clear, measurable business goal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F5E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social media strategy begins with a clear, measurable business goal.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54480" y="2743200"/>
            <a:ext cx="9079992" cy="2194560"/>
          </a:xfrm>
          <a:prstGeom prst="roundRect">
            <a:avLst>
              <a:gd name="adj" fmla="val 3333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0" y="3017520"/>
            <a:ext cx="1005840" cy="1005840"/>
          </a:xfrm>
          <a:prstGeom prst="ellipse">
            <a:avLst/>
          </a:prstGeom>
          <a:solidFill>
            <a:srgbClr val="E3A8B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24612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108960" y="2926080"/>
            <a:ext cx="7434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i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Nykaa increase Instagram engagement and follower growth by 20% over the next 3 months?”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554480" y="5120640"/>
            <a:ext cx="9079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83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Audit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1-2 hours analyzing the current account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F5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4023360" cy="4114800"/>
          </a:xfrm>
          <a:prstGeom prst="roundRect">
            <a:avLst>
              <a:gd name="adj" fmla="val 1818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402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240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Metrics Tracked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292608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Follow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Impressions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Average Likes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Profile Visit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Save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Shares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632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Categories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514600"/>
          <a:ext cx="6766560" cy="301752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Posts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 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 / Discounts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83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Analysis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Nykaa against 2-3 close competitors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F5EEE3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selected: Mamaearth, Sugar Cosmetics, Minimalist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73287"/>
              </p:ext>
            </p:extLst>
          </p:nvPr>
        </p:nvGraphicFramePr>
        <p:xfrm>
          <a:off x="548639" y="2651760"/>
          <a:ext cx="10078927" cy="2571887"/>
        </p:xfrm>
        <a:graphic>
          <a:graphicData uri="http://schemas.openxmlformats.org/drawingml/2006/table">
            <a:tbl>
              <a:tblPr/>
              <a:tblGrid>
                <a:gridCol w="4001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8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0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Nykaa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~3.1M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400" dirty="0"/>
                        <a:t>~0.05% (avg. 1.6K likes, 16 comments/post)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Mamaearth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~1.1M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~0.1% (avg. 1,075 likes, 26 comments/post)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9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 Cosmetics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~2.3M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~0.03–0.10% (avg. 865–6K likes, 5–67 comments/post)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9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3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~531K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 enough public data to estimate reliably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5321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5623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743200" y="56509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competitors do better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content performs well across the category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83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Identified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the audit and competitor comparison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F5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5271516" cy="3017520"/>
          </a:xfrm>
          <a:prstGeom prst="roundRect">
            <a:avLst>
              <a:gd name="adj" fmla="val 2424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514600"/>
            <a:ext cx="822960" cy="822960"/>
          </a:xfrm>
          <a:prstGeom prst="ellipse">
            <a:avLst/>
          </a:prstGeom>
          <a:solidFill>
            <a:srgbClr val="E3A8B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6974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566160"/>
            <a:ext cx="43571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“Nykaa posts many promotional posts but fewer educational reels.”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368796" y="2194560"/>
            <a:ext cx="5271516" cy="3017520"/>
          </a:xfrm>
          <a:prstGeom prst="roundRect">
            <a:avLst>
              <a:gd name="adj" fmla="val 2424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34556" y="2514600"/>
            <a:ext cx="822960" cy="822960"/>
          </a:xfrm>
          <a:prstGeom prst="ellipse">
            <a:avLst/>
          </a:prstGeom>
          <a:solidFill>
            <a:srgbClr val="B3D3E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436" y="26974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25996" y="3566160"/>
            <a:ext cx="43571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“Competitors receive higher engagement from influencer collaborations.”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83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Strategy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part — four core content pillars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F5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2498598" cy="2377440"/>
          </a:xfrm>
          <a:prstGeom prst="roundRect">
            <a:avLst>
              <a:gd name="adj" fmla="val 3077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49299" y="2377440"/>
            <a:ext cx="1097280" cy="109728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11" name="Text 9"/>
          <p:cNvSpPr/>
          <p:nvPr/>
        </p:nvSpPr>
        <p:spPr>
          <a:xfrm>
            <a:off x="1249299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24985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Tips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12998" y="2103120"/>
            <a:ext cx="2498598" cy="2377440"/>
          </a:xfrm>
          <a:prstGeom prst="roundRect">
            <a:avLst>
              <a:gd name="adj" fmla="val 3077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3657" y="2377440"/>
            <a:ext cx="1097280" cy="1097280"/>
          </a:xfrm>
          <a:prstGeom prst="ellipse">
            <a:avLst/>
          </a:prstGeom>
          <a:solidFill>
            <a:srgbClr val="B3D3E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3657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12998" y="3657600"/>
            <a:ext cx="24985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04438" y="397764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Education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77356" y="2103120"/>
            <a:ext cx="2498598" cy="2377440"/>
          </a:xfrm>
          <a:prstGeom prst="roundRect">
            <a:avLst>
              <a:gd name="adj" fmla="val 3077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78015" y="2377440"/>
            <a:ext cx="1097280" cy="1097280"/>
          </a:xfrm>
          <a:prstGeom prst="ellipse">
            <a:avLst/>
          </a:prstGeom>
          <a:solidFill>
            <a:srgbClr val="E0C096"/>
          </a:solidFill>
          <a:ln/>
        </p:spPr>
      </p:sp>
      <p:sp>
        <p:nvSpPr>
          <p:cNvPr id="21" name="Text 19"/>
          <p:cNvSpPr/>
          <p:nvPr/>
        </p:nvSpPr>
        <p:spPr>
          <a:xfrm>
            <a:off x="6978015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77356" y="3657600"/>
            <a:ext cx="24985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8796" y="397764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Reviews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1714" y="2103120"/>
            <a:ext cx="2498598" cy="2377440"/>
          </a:xfrm>
          <a:prstGeom prst="roundRect">
            <a:avLst>
              <a:gd name="adj" fmla="val 3077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42373" y="2377440"/>
            <a:ext cx="1097280" cy="109728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26" name="Text 24"/>
          <p:cNvSpPr/>
          <p:nvPr/>
        </p:nvSpPr>
        <p:spPr>
          <a:xfrm>
            <a:off x="9842373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141714" y="3657600"/>
            <a:ext cx="24985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3154" y="397764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Generated Content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directly responds to a gap found in the audit — increasing Beauty Tips and Product Education content addresses the lack of educational reels, while expanding Influencer Reviews matches what drives engagement for competitors.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83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Calendar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30-day plan to put the strategy into 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F5EEE3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of the first week, designed in Canva using the brand's palette: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1443446" cy="3108960"/>
          </a:xfrm>
          <a:prstGeom prst="roundRect">
            <a:avLst>
              <a:gd name="adj" fmla="val 5068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77755" y="2926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977755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8368" y="3703320"/>
            <a:ext cx="12239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Reel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" y="5120640"/>
            <a:ext cx="1223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Beauty Tips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56678" y="2697480"/>
            <a:ext cx="1443446" cy="3108960"/>
          </a:xfrm>
          <a:prstGeom prst="roundRect">
            <a:avLst>
              <a:gd name="adj" fmla="val 5068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85793" y="2926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2585793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266406" y="3703320"/>
            <a:ext cx="12239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266406" y="5120640"/>
            <a:ext cx="1223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Product Education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764715" y="2697480"/>
            <a:ext cx="1443446" cy="3108960"/>
          </a:xfrm>
          <a:prstGeom prst="roundRect">
            <a:avLst>
              <a:gd name="adj" fmla="val 5068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93830" y="2926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4193830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74443" y="3703320"/>
            <a:ext cx="12239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Post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874443" y="5120640"/>
            <a:ext cx="1223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Influencer Reviews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372753" y="2697480"/>
            <a:ext cx="1443446" cy="3108960"/>
          </a:xfrm>
          <a:prstGeom prst="roundRect">
            <a:avLst>
              <a:gd name="adj" fmla="val 5068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801868" y="2926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5801868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482481" y="3703320"/>
            <a:ext cx="12239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Giveaway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82481" y="5120640"/>
            <a:ext cx="1223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User Generated Content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80791" y="2697480"/>
            <a:ext cx="1443446" cy="3108960"/>
          </a:xfrm>
          <a:prstGeom prst="roundRect">
            <a:avLst>
              <a:gd name="adj" fmla="val 5068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409906" y="2926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7409906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090519" y="3703320"/>
            <a:ext cx="12239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Tip Carousel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090519" y="5120640"/>
            <a:ext cx="1223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Beauty Tips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588829" y="2697480"/>
            <a:ext cx="1443446" cy="3108960"/>
          </a:xfrm>
          <a:prstGeom prst="roundRect">
            <a:avLst>
              <a:gd name="adj" fmla="val 5068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9017943" y="2926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9017943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698557" y="3703320"/>
            <a:ext cx="12239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Repost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8698557" y="5120640"/>
            <a:ext cx="1223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User Generated Content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196866" y="2697480"/>
            <a:ext cx="1443446" cy="3108960"/>
          </a:xfrm>
          <a:prstGeom prst="roundRect">
            <a:avLst>
              <a:gd name="adj" fmla="val 5068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10625981" y="29260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/>
          <p:nvPr/>
        </p:nvSpPr>
        <p:spPr>
          <a:xfrm>
            <a:off x="10625981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0306594" y="3703320"/>
            <a:ext cx="12239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 Story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0306594" y="5120640"/>
            <a:ext cx="1223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Product Education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52044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83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Dashboard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performance in Power BI / Excel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F5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5740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5146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974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0" y="2057400"/>
            <a:ext cx="2081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367784" y="205740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87824" y="25146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704" y="26974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47944" y="2057400"/>
            <a:ext cx="2081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Impressions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8186928" y="205740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06968" y="25146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9848" y="2697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67088" y="2057400"/>
            <a:ext cx="2081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Rate</a:t>
            </a:r>
            <a:endParaRPr lang="en-US" sz="1900" dirty="0"/>
          </a:p>
        </p:txBody>
      </p:sp>
      <p:sp>
        <p:nvSpPr>
          <p:cNvPr id="21" name="Shape 16"/>
          <p:cNvSpPr/>
          <p:nvPr/>
        </p:nvSpPr>
        <p:spPr>
          <a:xfrm>
            <a:off x="548640" y="411480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8680" y="4572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7548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28800" y="4114800"/>
            <a:ext cx="2081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Follower Growth</a:t>
            </a:r>
            <a:endParaRPr lang="en-US" sz="1900" dirty="0"/>
          </a:p>
        </p:txBody>
      </p:sp>
      <p:sp>
        <p:nvSpPr>
          <p:cNvPr id="25" name="Shape 19"/>
          <p:cNvSpPr/>
          <p:nvPr/>
        </p:nvSpPr>
        <p:spPr>
          <a:xfrm>
            <a:off x="4367784" y="411480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87824" y="4572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0704" y="475488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47944" y="4114800"/>
            <a:ext cx="2081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Saves</a:t>
            </a:r>
            <a:endParaRPr lang="en-US" sz="1900" dirty="0"/>
          </a:p>
        </p:txBody>
      </p:sp>
      <p:sp>
        <p:nvSpPr>
          <p:cNvPr id="29" name="Shape 22"/>
          <p:cNvSpPr/>
          <p:nvPr/>
        </p:nvSpPr>
        <p:spPr>
          <a:xfrm>
            <a:off x="8186928" y="411480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F5EEE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06968" y="4572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9848" y="475488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67088" y="4114800"/>
            <a:ext cx="2081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Shares</a:t>
            </a:r>
            <a:endParaRPr lang="en-US" sz="1900" dirty="0"/>
          </a:p>
        </p:txBody>
      </p:sp>
      <p:sp>
        <p:nvSpPr>
          <p:cNvPr id="33" name="Text 25"/>
          <p:cNvSpPr/>
          <p:nvPr/>
        </p:nvSpPr>
        <p:spPr>
          <a:xfrm>
            <a:off x="548640" y="5989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these six metrics consistently allows the strategy's effectiveness to be measured against the original objective: a 20% increase in engagement and follower growth within three months.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D38CD-1E88-14D4-AF53-3B27CF86D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8" y="1110342"/>
            <a:ext cx="11762351" cy="5641663"/>
          </a:xfrm>
          <a:prstGeom prst="rect">
            <a:avLst/>
          </a:prstGeom>
        </p:spPr>
      </p:pic>
      <p:sp>
        <p:nvSpPr>
          <p:cNvPr id="9" name="Shape 16">
            <a:extLst>
              <a:ext uri="{FF2B5EF4-FFF2-40B4-BE49-F238E27FC236}">
                <a16:creationId xmlns:a16="http://schemas.microsoft.com/office/drawing/2014/main" id="{3101DD90-DFDF-18AA-B5A8-3793BF2F7A69}"/>
              </a:ext>
            </a:extLst>
          </p:cNvPr>
          <p:cNvSpPr/>
          <p:nvPr/>
        </p:nvSpPr>
        <p:spPr>
          <a:xfrm>
            <a:off x="264808" y="105995"/>
            <a:ext cx="5677024" cy="696438"/>
          </a:xfrm>
          <a:prstGeom prst="roundRect">
            <a:avLst>
              <a:gd name="adj" fmla="val 9412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IN" sz="3200" b="1" dirty="0"/>
              <a:t>NYKAA DASHBOARD- </a:t>
            </a:r>
            <a:r>
              <a:rPr lang="en-IN" sz="3200" b="1" dirty="0">
                <a:hlinkClick r:id="rId3"/>
              </a:rPr>
              <a:t>GITHUB</a:t>
            </a:r>
            <a:r>
              <a:rPr lang="en-IN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7541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83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outcomes over the 3-month period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F5E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Reach and Impressions through consistent Reels and educational content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Engagement Rate driven by influencer collaborations and UGC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Follower Growth aligned with the 20% target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Saves and Shares from value-driven Beauty Tips content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5605272" cy="4114800"/>
          </a:xfrm>
          <a:prstGeom prst="roundRect">
            <a:avLst>
              <a:gd name="adj" fmla="val 1778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6" y="2377440"/>
            <a:ext cx="914400" cy="914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35040" y="3383280"/>
            <a:ext cx="5605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</a:t>
            </a:r>
            <a:endParaRPr lang="en-US" sz="6400" dirty="0"/>
          </a:p>
        </p:txBody>
      </p:sp>
      <p:sp>
        <p:nvSpPr>
          <p:cNvPr id="13" name="Text 10"/>
          <p:cNvSpPr/>
          <p:nvPr/>
        </p:nvSpPr>
        <p:spPr>
          <a:xfrm>
            <a:off x="6035040" y="4572000"/>
            <a:ext cx="5605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Growth in Engagement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Follower Count over 3 Months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188720"/>
            <a:ext cx="2743200" cy="2743200"/>
          </a:xfrm>
          <a:prstGeom prst="ellipse">
            <a:avLst/>
          </a:prstGeom>
          <a:solidFill>
            <a:srgbClr val="F5D5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377440" cy="2377440"/>
          </a:xfrm>
          <a:prstGeom prst="ellipse">
            <a:avLst/>
          </a:prstGeom>
          <a:solidFill>
            <a:srgbClr val="D2E5F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B3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Portfolio Structure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75304" cy="868680"/>
          </a:xfrm>
          <a:prstGeom prst="roundRect">
            <a:avLst>
              <a:gd name="adj" fmla="val 8421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74520"/>
            <a:ext cx="502920" cy="50292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Overview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06824" y="1691640"/>
            <a:ext cx="3575304" cy="868680"/>
          </a:xfrm>
          <a:prstGeom prst="roundRect">
            <a:avLst>
              <a:gd name="adj" fmla="val 8421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71416" y="1874520"/>
            <a:ext cx="502920" cy="50292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12" name="Text 10"/>
          <p:cNvSpPr/>
          <p:nvPr/>
        </p:nvSpPr>
        <p:spPr>
          <a:xfrm>
            <a:off x="447141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9784" y="16916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Audit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65008" y="1691640"/>
            <a:ext cx="3575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74520"/>
            <a:ext cx="502920" cy="50292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87968" y="16916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3575304" cy="868680"/>
          </a:xfrm>
          <a:prstGeom prst="roundRect">
            <a:avLst>
              <a:gd name="adj" fmla="val 8421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2926080"/>
            <a:ext cx="502920" cy="50292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274320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Identified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06824" y="2743200"/>
            <a:ext cx="3575304" cy="868680"/>
          </a:xfrm>
          <a:prstGeom prst="roundRect">
            <a:avLst>
              <a:gd name="adj" fmla="val 8421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71416" y="2926080"/>
            <a:ext cx="502920" cy="50292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24" name="Text 22"/>
          <p:cNvSpPr/>
          <p:nvPr/>
        </p:nvSpPr>
        <p:spPr>
          <a:xfrm>
            <a:off x="4471416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29784" y="274320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65008" y="2743200"/>
            <a:ext cx="3575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2926080"/>
            <a:ext cx="502920" cy="50292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87968" y="274320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3575304" cy="868680"/>
          </a:xfrm>
          <a:prstGeom prst="roundRect">
            <a:avLst>
              <a:gd name="adj" fmla="val 8421"/>
            </a:avLst>
          </a:prstGeom>
          <a:solidFill>
            <a:srgbClr val="F5D5DE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3232" y="3977640"/>
            <a:ext cx="502920" cy="50292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71600" y="379476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Creatives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06824" y="3794760"/>
            <a:ext cx="3575304" cy="868680"/>
          </a:xfrm>
          <a:prstGeom prst="roundRect">
            <a:avLst>
              <a:gd name="adj" fmla="val 8421"/>
            </a:avLst>
          </a:prstGeom>
          <a:solidFill>
            <a:srgbClr val="D2E5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71416" y="3977640"/>
            <a:ext cx="502920" cy="50292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36" name="Text 34"/>
          <p:cNvSpPr/>
          <p:nvPr/>
        </p:nvSpPr>
        <p:spPr>
          <a:xfrm>
            <a:off x="4471416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29784" y="379476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65008" y="3794760"/>
            <a:ext cx="3575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0" y="3977640"/>
            <a:ext cx="502920" cy="502920"/>
          </a:xfrm>
          <a:prstGeom prst="ellipse">
            <a:avLst/>
          </a:prstGeom>
          <a:solidFill>
            <a:srgbClr val="E3A8BC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887968" y="379476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" y="4937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659</Words>
  <Application>Microsoft Office PowerPoint</Application>
  <PresentationFormat>Widescreen</PresentationFormat>
  <Paragraphs>186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Growth Strategy Project - Nykaa</dc:title>
  <dc:subject>PptxGenJS Presentation</dc:subject>
  <dc:creator>Brand Growth Strategy Project</dc:creator>
  <cp:lastModifiedBy>Maya Kushwaha</cp:lastModifiedBy>
  <cp:revision>2</cp:revision>
  <dcterms:created xsi:type="dcterms:W3CDTF">2026-06-11T07:22:02Z</dcterms:created>
  <dcterms:modified xsi:type="dcterms:W3CDTF">2026-06-17T13:26:06Z</dcterms:modified>
</cp:coreProperties>
</file>